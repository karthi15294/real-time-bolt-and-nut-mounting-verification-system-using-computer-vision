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3"/>
    <p:sldId id="257" r:id="rId4"/>
    <p:sldId id="261" r:id="rId5"/>
    <p:sldId id="258" r:id="rId6"/>
    <p:sldId id="272" r:id="rId7"/>
    <p:sldId id="271" r:id="rId8"/>
    <p:sldId id="270" r:id="rId9"/>
    <p:sldId id="2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60"/>
  </p:normalViewPr>
  <p:slideViewPr>
    <p:cSldViewPr snapToGrid="0">
      <p:cViewPr varScale="1">
        <p:scale>
          <a:sx n="86" d="100"/>
          <a:sy n="86" d="100"/>
        </p:scale>
        <p:origin x="-696" y="-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1CDC48-004B-49A5-9DD2-8F9C0C39EB24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03BF9A-226A-4D59-AACB-05DDF9E8E85F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D34C1-CFAE-4B10-8936-D7BDC1D58129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9A470-1865-4131-B7FE-F37C27291358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0F605-6CCA-4984-B83C-616F47E6251C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AB4C3-BB6A-46B4-BA84-0B183F7B6E9B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465A2-CB21-46B9-BEA6-4ECFB6FD2E0D}" type="datetime1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97BB4-CB83-49C5-A5B0-B911C52AAF56}" type="datetime1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8233E-5977-4899-9A00-E0AB5E556C80}" type="datetime1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F0969-E9C5-48BE-A475-ED49EA4F9E2B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F84FE-CF07-43FE-BEAF-CDA8413D801E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A4895-4309-4F3E-865F-20A07D5AB02F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78676-4DF7-4384-8004-A7BB8196BA06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C782CF-09F6-48AE-837F-ACFDF5403B3B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MRIET 2024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0762C-F2FD-4145-979C-8E15085ED4A0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9xq407mHdAg" TargetMode="External"/><Relationship Id="rId4" Type="http://schemas.openxmlformats.org/officeDocument/2006/relationships/hyperlink" Target="https://github.com/ultralytics/ultralytics" TargetMode="External"/><Relationship Id="rId3" Type="http://schemas.openxmlformats.org/officeDocument/2006/relationships/hyperlink" Target="https://docs.ultralytics.com/?utm_source=chatgpt.com" TargetMode="External"/><Relationship Id="rId2" Type="http://schemas.openxmlformats.org/officeDocument/2006/relationships/hyperlink" Target="https://docs.opencv.org/4.x/d6/d00/tutorial_py_root.html" TargetMode="External"/><Relationship Id="rId1" Type="http://schemas.openxmlformats.org/officeDocument/2006/relationships/hyperlink" Target="https://pjreddie.com/media/files/papers/yolo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1209040" y="2102485"/>
            <a:ext cx="9733915" cy="92329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600" b="1" dirty="0">
              <a:solidFill>
                <a:srgbClr val="C00000"/>
              </a:solidFill>
              <a:latin typeface="+mn-lt"/>
            </a:endParaRPr>
          </a:p>
          <a:p>
            <a:pPr marL="457200" lvl="1" indent="0" algn="l">
              <a:buNone/>
            </a:pPr>
            <a:r>
              <a:rPr lang="en-US" sz="3600" b="1" dirty="0">
                <a:solidFill>
                  <a:srgbClr val="C00000"/>
                </a:solidFill>
                <a:latin typeface="+mn-lt"/>
              </a:rPr>
              <a:t> </a:t>
            </a:r>
            <a:endParaRPr lang="en-US" sz="3600" b="1" dirty="0">
              <a:solidFill>
                <a:srgbClr val="C00000"/>
              </a:solidFill>
              <a:latin typeface="+mn-lt"/>
            </a:endParaRPr>
          </a:p>
          <a:p>
            <a:pPr marL="0" lvl="1" algn="ctr"/>
            <a:r>
              <a:rPr lang="en-US" sz="3600" b="1" dirty="0" smtClean="0">
                <a:solidFill>
                  <a:srgbClr val="C00000"/>
                </a:solidFill>
                <a:latin typeface="+mn-lt"/>
              </a:rPr>
              <a:t>   </a:t>
            </a:r>
            <a:r>
              <a:rPr lang="en-US" sz="3600" b="1" dirty="0">
                <a:solidFill>
                  <a:srgbClr val="C00000"/>
                </a:solidFill>
                <a:latin typeface="+mn-lt"/>
                <a:sym typeface="+mn-ea"/>
              </a:rPr>
              <a:t>Real time bolt and nut mounting verification system </a:t>
            </a:r>
            <a:endParaRPr lang="en-US" sz="3600" b="1" dirty="0">
              <a:solidFill>
                <a:srgbClr val="C00000"/>
              </a:solidFill>
              <a:latin typeface="+mn-lt"/>
            </a:endParaRPr>
          </a:p>
          <a:p>
            <a:pPr algn="l"/>
            <a:r>
              <a:rPr lang="en-US" sz="3600" b="1" dirty="0" smtClean="0">
                <a:solidFill>
                  <a:srgbClr val="C00000"/>
                </a:solidFill>
                <a:latin typeface="+mn-lt"/>
              </a:rPr>
              <a:t>                                      </a:t>
            </a:r>
            <a:endParaRPr lang="en-US" sz="3600" b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09110" y="2584813"/>
            <a:ext cx="11334292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0070C0"/>
                </a:solidFill>
              </a:rPr>
              <a:t>Batch No.: </a:t>
            </a:r>
            <a:r>
              <a:rPr lang="en-US" sz="2400" dirty="0" smtClean="0">
                <a:solidFill>
                  <a:schemeClr val="tx1"/>
                </a:solidFill>
              </a:rPr>
              <a:t>04</a:t>
            </a:r>
            <a:endParaRPr lang="en-US" sz="2400" b="1" dirty="0" smtClean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0070C0"/>
                </a:solidFill>
              </a:rPr>
              <a:t>Club Name: </a:t>
            </a:r>
            <a:r>
              <a:rPr lang="en-US" sz="2400" dirty="0" smtClean="0">
                <a:solidFill>
                  <a:schemeClr val="tx1"/>
                </a:solidFill>
              </a:rPr>
              <a:t>SMART AUTOMATION CLUB</a:t>
            </a:r>
            <a:endParaRPr lang="en-US" sz="2400" b="1" dirty="0" smtClean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0070C0"/>
                </a:solidFill>
              </a:rPr>
              <a:t>Team Members</a:t>
            </a:r>
            <a:r>
              <a:rPr lang="en-US" sz="2400" dirty="0" smtClean="0">
                <a:solidFill>
                  <a:srgbClr val="0070C0"/>
                </a:solidFill>
              </a:rPr>
              <a:t>: </a:t>
            </a:r>
            <a:r>
              <a:rPr lang="en-IN" sz="2400" dirty="0">
                <a:sym typeface="+mn-ea"/>
              </a:rPr>
              <a:t>Logesh</a:t>
            </a:r>
            <a:r>
              <a:rPr lang="en-US" altLang="en-IN" sz="2400" dirty="0">
                <a:sym typeface="+mn-ea"/>
              </a:rPr>
              <a:t>waran B</a:t>
            </a:r>
            <a:r>
              <a:rPr lang="en-IN" sz="2400" dirty="0">
                <a:sym typeface="+mn-ea"/>
              </a:rPr>
              <a:t>,</a:t>
            </a:r>
            <a:r>
              <a:rPr lang="en-US" altLang="en-IN" sz="2400" dirty="0">
                <a:sym typeface="+mn-ea"/>
              </a:rPr>
              <a:t> Bhuvanan M, Karthikeyan V, Veera karthikeyan R, Jayasubramani S</a:t>
            </a:r>
            <a:endParaRPr lang="en-IN" sz="2400" dirty="0"/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70C0"/>
                </a:solidFill>
              </a:rPr>
              <a:t>Full Affiliation: </a:t>
            </a:r>
            <a:r>
              <a:rPr lang="en-IN" sz="2400" dirty="0" smtClean="0"/>
              <a:t>III </a:t>
            </a:r>
            <a:r>
              <a:rPr lang="en-IN" sz="2400" dirty="0"/>
              <a:t>Year </a:t>
            </a:r>
            <a:r>
              <a:rPr lang="en-US" altLang="en-IN" sz="2400" dirty="0"/>
              <a:t>MECH</a:t>
            </a:r>
            <a:r>
              <a:rPr lang="en-IN" sz="2400" dirty="0" smtClean="0"/>
              <a:t>, </a:t>
            </a:r>
            <a:r>
              <a:rPr lang="en-IN" sz="2400" dirty="0"/>
              <a:t>Knowledge Institute of Technology. Salem.</a:t>
            </a:r>
            <a:r>
              <a:rPr lang="en-IN" sz="2400" dirty="0">
                <a:solidFill>
                  <a:srgbClr val="0070C0"/>
                </a:solidFill>
              </a:rPr>
              <a:t> </a:t>
            </a:r>
            <a:endParaRPr lang="en-IN" sz="2400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en-IN" sz="2400" b="1" dirty="0" smtClean="0">
                <a:solidFill>
                  <a:srgbClr val="0070C0"/>
                </a:solidFill>
              </a:rPr>
              <a:t>Name of the Mentor:</a:t>
            </a:r>
            <a:r>
              <a:rPr lang="en-US" altLang="en-IN" sz="2400" b="1" dirty="0" smtClean="0">
                <a:solidFill>
                  <a:srgbClr val="0070C0"/>
                </a:solidFill>
              </a:rPr>
              <a:t> </a:t>
            </a:r>
            <a:r>
              <a:rPr lang="en-IN" sz="2400" b="1" dirty="0">
                <a:solidFill>
                  <a:srgbClr val="0070C0"/>
                </a:solidFill>
                <a:sym typeface="+mn-ea"/>
              </a:rPr>
              <a:t> </a:t>
            </a:r>
            <a:r>
              <a:rPr lang="en-IN" sz="2400" dirty="0">
                <a:sym typeface="+mn-ea"/>
              </a:rPr>
              <a:t>Prof P. Karthikeyan</a:t>
            </a:r>
            <a:endParaRPr lang="en-US" sz="2400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0070C0"/>
                </a:solidFill>
              </a:rPr>
              <a:t>Presentation </a:t>
            </a:r>
            <a:r>
              <a:rPr lang="en-US" sz="2400" b="1" dirty="0">
                <a:solidFill>
                  <a:srgbClr val="0070C0"/>
                </a:solidFill>
              </a:rPr>
              <a:t>Date: </a:t>
            </a:r>
            <a:r>
              <a:rPr lang="en-US" sz="2400" dirty="0" smtClean="0"/>
              <a:t>18.09.2025</a:t>
            </a:r>
            <a:endParaRPr lang="en-US" sz="2400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MAP 2025</a:t>
            </a:r>
            <a:endParaRPr lang="en-IN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2D6A8-AF7C-4F41-B589-0F714FD698FB}" type="datetime1">
              <a:rPr lang="en-IN" smtClean="0"/>
            </a:fld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1973433" y="299022"/>
            <a:ext cx="8968866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chemeClr val="accent6">
                    <a:lumMod val="75000"/>
                  </a:schemeClr>
                </a:solidFill>
              </a:rPr>
              <a:t>KNOWLEDGE INSTITUTE OF TECHNOLOGY, SALEM – 637504</a:t>
            </a:r>
            <a:endParaRPr lang="en-IN" sz="2800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r>
              <a:rPr lang="en-IN" b="1" dirty="0" smtClean="0"/>
              <a:t>(Autonomous Institution)</a:t>
            </a:r>
            <a:endParaRPr lang="en-IN" dirty="0"/>
          </a:p>
        </p:txBody>
      </p:sp>
      <p:pic>
        <p:nvPicPr>
          <p:cNvPr id="10" name="Picture 9" descr="C:\Users\KIOT\Downloads\WhatsApp Image 2025-04-01 at 3.02.50 PM.jpeg"/>
          <p:cNvPicPr/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223"/>
          <a:stretch>
            <a:fillRect/>
          </a:stretch>
        </p:blipFill>
        <p:spPr bwMode="auto">
          <a:xfrm>
            <a:off x="409111" y="568302"/>
            <a:ext cx="956982" cy="96410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6"/>
          <p:cNvSpPr/>
          <p:nvPr/>
        </p:nvSpPr>
        <p:spPr>
          <a:xfrm>
            <a:off x="10942299" y="531646"/>
            <a:ext cx="1134044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 smtClean="0"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MAP</a:t>
            </a:r>
            <a:r>
              <a:rPr lang="en-IN" b="1" dirty="0" smtClean="0"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 </a:t>
            </a:r>
            <a:endParaRPr lang="en-IN" b="1" dirty="0" smtClean="0"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  <a:p>
            <a:pPr algn="ctr"/>
            <a:r>
              <a:rPr lang="en-IN" b="1" dirty="0" smtClean="0"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2025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2098" y="209321"/>
            <a:ext cx="10515600" cy="113562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C00000"/>
                </a:solidFill>
              </a:rPr>
              <a:t>Table of Content 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30148" y="1504680"/>
            <a:ext cx="10972800" cy="4554597"/>
          </a:xfrm>
        </p:spPr>
        <p:txBody>
          <a:bodyPr>
            <a:noAutofit/>
          </a:bodyPr>
          <a:lstStyle/>
          <a:p>
            <a:pPr marL="0" indent="0">
              <a:lnSpc>
                <a:spcPct val="200000"/>
              </a:lnSpc>
              <a:buNone/>
            </a:pPr>
            <a:endParaRPr lang="en-US" sz="2000" dirty="0" smtClean="0">
              <a:solidFill>
                <a:srgbClr val="0070C0"/>
              </a:solidFill>
            </a:endParaRPr>
          </a:p>
          <a:p>
            <a:pPr marL="0" indent="0">
              <a:lnSpc>
                <a:spcPct val="200000"/>
              </a:lnSpc>
              <a:buNone/>
            </a:pPr>
            <a:endParaRPr lang="en-US" sz="2000" dirty="0">
              <a:solidFill>
                <a:srgbClr val="0070C0"/>
              </a:solidFill>
            </a:endParaRPr>
          </a:p>
          <a:p>
            <a:pPr marL="0" indent="0">
              <a:lnSpc>
                <a:spcPct val="200000"/>
              </a:lnSpc>
              <a:buNone/>
            </a:pP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  <a:endParaRPr lang="en-IN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983A6-DC0A-451F-AB88-5CAE8FA65D6A}" type="datetime1">
              <a:rPr lang="en-IN" smtClean="0"/>
            </a:fld>
            <a:endParaRPr lang="en-IN"/>
          </a:p>
        </p:txBody>
      </p:sp>
      <p:graphicFrame>
        <p:nvGraphicFramePr>
          <p:cNvPr id="3" name="Table 2"/>
          <p:cNvGraphicFramePr/>
          <p:nvPr/>
        </p:nvGraphicFramePr>
        <p:xfrm>
          <a:off x="1828800" y="2095500"/>
          <a:ext cx="8534400" cy="2667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8135"/>
                <a:gridCol w="6946265"/>
              </a:tblGrid>
              <a:tr h="381000">
                <a:tc>
                  <a:txBody>
                    <a:bodyPr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S .No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Content 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381000">
                <a:tc>
                  <a:txBody>
                    <a:bodyPr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just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List of Problems through customers / industry defined problems</a:t>
                      </a:r>
                      <a:endParaRPr lang="en-IN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381000">
                <a:tc>
                  <a:txBody>
                    <a:bodyPr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just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Selected Final Problem Statement </a:t>
                      </a:r>
                      <a:endParaRPr lang="en-IN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381000">
                <a:tc>
                  <a:txBody>
                    <a:bodyPr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just"/>
                      <a:r>
                        <a:rPr lang="en-US" altLang="en-IN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Discussion with Customer</a:t>
                      </a:r>
                      <a:endParaRPr lang="en-US" altLang="en-IN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381000">
                <a:tc>
                  <a:txBody>
                    <a:bodyPr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just"/>
                      <a:r>
                        <a:rPr lang="en-US" altLang="en-IN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Key assumptions and objective</a:t>
                      </a:r>
                      <a:endParaRPr lang="en-US" altLang="en-IN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Plan to Execute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References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3982" y="391651"/>
            <a:ext cx="11668018" cy="820700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solidFill>
                  <a:srgbClr val="C00000"/>
                </a:solidFill>
              </a:rPr>
              <a:t>List </a:t>
            </a:r>
            <a:r>
              <a:rPr lang="en-US" sz="3600" b="1" dirty="0">
                <a:solidFill>
                  <a:srgbClr val="C00000"/>
                </a:solidFill>
              </a:rPr>
              <a:t>of Problems through customers / industry defined </a:t>
            </a:r>
            <a:r>
              <a:rPr lang="en-US" sz="3600" b="1" dirty="0" smtClean="0">
                <a:solidFill>
                  <a:srgbClr val="C00000"/>
                </a:solidFill>
              </a:rPr>
              <a:t>problems/contest etc.</a:t>
            </a:r>
            <a:endParaRPr lang="en-IN" sz="3600" b="1" dirty="0">
              <a:solidFill>
                <a:srgbClr val="C00000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38150" y="1299210"/>
          <a:ext cx="11489690" cy="5639435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889760"/>
                <a:gridCol w="4168140"/>
                <a:gridCol w="3180080"/>
                <a:gridCol w="2251710"/>
              </a:tblGrid>
              <a:tr h="1015365"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Short Summary of </a:t>
                      </a:r>
                      <a:endParaRPr lang="en-IN" dirty="0" smtClean="0"/>
                    </a:p>
                    <a:p>
                      <a:pPr algn="ctr"/>
                      <a:r>
                        <a:rPr lang="en-IN" dirty="0" smtClean="0"/>
                        <a:t>Problem Statement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dirty="0" smtClean="0"/>
                        <a:t>Problem identified through (direct</a:t>
                      </a:r>
                      <a:r>
                        <a:rPr lang="en-IN" baseline="0" dirty="0" smtClean="0"/>
                        <a:t> customer, industry, SIH contest, other contest etc.)</a:t>
                      </a:r>
                      <a:endParaRPr lang="en-IN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dirty="0" smtClean="0"/>
                        <a:t>Align with SDGs</a:t>
                      </a:r>
                      <a:endParaRPr lang="en-IN" dirty="0" smtClean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dirty="0" smtClean="0"/>
                        <a:t>(SDG 1 to SDG17)</a:t>
                      </a:r>
                      <a:endParaRPr lang="en-IN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427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b="1" dirty="0" smtClean="0"/>
                        <a:t>Problem </a:t>
                      </a:r>
                      <a:endParaRPr lang="en-IN" b="1" dirty="0" smtClean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b="1" dirty="0" smtClean="0"/>
                        <a:t>Statement</a:t>
                      </a:r>
                      <a:r>
                        <a:rPr lang="en-IN" b="1" baseline="0" dirty="0" smtClean="0"/>
                        <a:t> 1</a:t>
                      </a:r>
                      <a:endParaRPr lang="en-IN" b="1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ym typeface="+mn-ea"/>
                        </a:rPr>
                        <a:t>Manual inspection of bolt and nut assembly is time-consuming and prone to human error, leading to incorrect mounting and safety risks.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ym typeface="+mn-ea"/>
                        </a:rPr>
                        <a:t>Direct Customer (Manufacturing Unit / Supervisor Feedback)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sym typeface="+mn-ea"/>
                        </a:rPr>
                        <a:t>SDG 9 (Industry, Innovation &amp; Infrastructure)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491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b="1" dirty="0" smtClean="0"/>
                        <a:t>Problem </a:t>
                      </a:r>
                      <a:endParaRPr lang="en-IN" b="1" dirty="0" smtClean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b="1" dirty="0" smtClean="0"/>
                        <a:t>Statement</a:t>
                      </a:r>
                      <a:r>
                        <a:rPr lang="en-IN" b="1" baseline="0" dirty="0" smtClean="0"/>
                        <a:t> 2</a:t>
                      </a:r>
                      <a:endParaRPr lang="en-IN" b="1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ym typeface="+mn-ea"/>
                        </a:rPr>
                        <a:t>Lack of real-time monitoring systems in assembly lines results in defective products reaching later stages, increasing rework cost.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600">
                          <a:sym typeface="+mn-ea"/>
                        </a:rPr>
                        <a:t>Industry (Automobile / Manufacturing Industry)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6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600">
                          <a:sym typeface="+mn-ea"/>
                        </a:rPr>
                        <a:t>SDG 12 (Responsible Consumption &amp; Production)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6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36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b="1" dirty="0" smtClean="0"/>
                        <a:t>Problem </a:t>
                      </a:r>
                      <a:endParaRPr lang="en-IN" b="1" dirty="0" smtClean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b="1" dirty="0" smtClean="0"/>
                        <a:t>Statement</a:t>
                      </a:r>
                      <a:r>
                        <a:rPr lang="en-IN" b="1" baseline="0" dirty="0" smtClean="0"/>
                        <a:t> 3</a:t>
                      </a:r>
                      <a:endParaRPr lang="en-IN" b="1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ym typeface="+mn-ea"/>
                        </a:rPr>
                        <a:t>Difficulty in ensuring consistency and accuracy in high-speed production environments where manual checks are not feasible.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ym typeface="+mn-ea"/>
                        </a:rPr>
                        <a:t>SIH / Engineering Problem Statements (Automation &amp; AI Domain)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16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>
                          <a:sym typeface="+mn-ea"/>
                        </a:rPr>
                        <a:t>SDG 8 (Decent Work &amp; Economic Growth)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600" dirty="0" smtClean="0"/>
                    </a:p>
                    <a:p>
                      <a:pPr algn="ctr"/>
                      <a:endParaRPr lang="en-IN" sz="16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b="1" dirty="0" smtClean="0"/>
                        <a:t>Problem </a:t>
                      </a:r>
                      <a:endParaRPr lang="en-IN" b="1" dirty="0" smtClean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b="1" dirty="0" smtClean="0"/>
                        <a:t>Statement</a:t>
                      </a:r>
                      <a:r>
                        <a:rPr lang="en-IN" b="1" baseline="0" dirty="0" smtClean="0"/>
                        <a:t> 4</a:t>
                      </a:r>
                      <a:endParaRPr lang="en-IN" b="1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ym typeface="+mn-ea"/>
                        </a:rPr>
                        <a:t>Existing quality control systems are expensive or not adaptable for small and medium-scale industries.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ym typeface="+mn-ea"/>
                        </a:rPr>
                        <a:t>Other Contest / Research (AI &amp; Automation Challenges)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16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600" dirty="0">
                          <a:sym typeface="+mn-ea"/>
                        </a:rPr>
                        <a:t>SDG 10 (Reduced Inequalities)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600" dirty="0" smtClean="0"/>
                    </a:p>
                    <a:p>
                      <a:pPr algn="ctr"/>
                      <a:endParaRPr lang="en-IN" sz="16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  <a:endParaRPr lang="en-IN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6646C-74F3-4311-AC52-20D39018B5CB}" type="datetime1">
              <a:rPr lang="en-IN" smtClean="0"/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8108" y="267367"/>
            <a:ext cx="8774130" cy="1230927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Selected </a:t>
            </a:r>
            <a:r>
              <a:rPr lang="en-US" b="1" dirty="0">
                <a:solidFill>
                  <a:srgbClr val="C00000"/>
                </a:solidFill>
              </a:rPr>
              <a:t>Final Problem </a:t>
            </a:r>
            <a:r>
              <a:rPr lang="en-US" b="1" dirty="0" smtClean="0">
                <a:solidFill>
                  <a:srgbClr val="C00000"/>
                </a:solidFill>
              </a:rPr>
              <a:t>Statement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0717" y="1383173"/>
            <a:ext cx="10515600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220" b="1" dirty="0">
                <a:sym typeface="+mn-ea"/>
              </a:rPr>
              <a:t>Problem:</a:t>
            </a:r>
            <a:br>
              <a:rPr lang="en-US" sz="2220" dirty="0">
                <a:sym typeface="+mn-ea"/>
              </a:rPr>
            </a:br>
            <a:r>
              <a:rPr lang="en-US" sz="2220" dirty="0">
                <a:sym typeface="+mn-ea"/>
              </a:rPr>
              <a:t>Manual inspection of bolt and nut mounting is slow, inconsistent, and error-prone, leading to defects and safety risks.</a:t>
            </a:r>
            <a:endParaRPr lang="en-US" sz="2220" dirty="0"/>
          </a:p>
          <a:p>
            <a:pPr>
              <a:lnSpc>
                <a:spcPct val="150000"/>
              </a:lnSpc>
            </a:pPr>
            <a:r>
              <a:rPr lang="en-US" sz="2220" b="1" dirty="0">
                <a:sym typeface="+mn-ea"/>
              </a:rPr>
              <a:t>Solution:</a:t>
            </a:r>
            <a:br>
              <a:rPr lang="en-US" sz="2220" dirty="0">
                <a:sym typeface="+mn-ea"/>
              </a:rPr>
            </a:br>
            <a:r>
              <a:rPr lang="en-US" sz="2220" dirty="0">
                <a:sym typeface="+mn-ea"/>
              </a:rPr>
              <a:t>Develop a </a:t>
            </a:r>
            <a:r>
              <a:rPr lang="en-US" sz="2220" b="1" dirty="0">
                <a:sym typeface="+mn-ea"/>
              </a:rPr>
              <a:t>real-time computer vision system</a:t>
            </a:r>
            <a:r>
              <a:rPr lang="en-US" sz="2220" dirty="0">
                <a:sym typeface="+mn-ea"/>
              </a:rPr>
              <a:t> to automatically detect and verify correct bolt and nut mounting in assembly lines.</a:t>
            </a:r>
            <a:endParaRPr lang="en-US" sz="2220" dirty="0"/>
          </a:p>
          <a:p>
            <a:pPr>
              <a:lnSpc>
                <a:spcPct val="150000"/>
              </a:lnSpc>
            </a:pPr>
            <a:r>
              <a:rPr lang="en-US" sz="2220" b="1" dirty="0">
                <a:sym typeface="+mn-ea"/>
              </a:rPr>
              <a:t>Goal:</a:t>
            </a:r>
            <a:br>
              <a:rPr lang="en-US" sz="2220" dirty="0">
                <a:sym typeface="+mn-ea"/>
              </a:rPr>
            </a:br>
            <a:r>
              <a:rPr lang="en-US" sz="2220" dirty="0">
                <a:sym typeface="+mn-ea"/>
              </a:rPr>
              <a:t>Improve accuracy, reduce human effort, and enhance production quality.</a:t>
            </a:r>
            <a:endParaRPr lang="en-US" sz="2220" dirty="0"/>
          </a:p>
          <a:p>
            <a:endParaRPr lang="en-IN" sz="2220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  <a:endParaRPr lang="en-IN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E8B41-4F67-45CE-BAB4-D2F9B2A88920}" type="datetime1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solidFill>
                  <a:srgbClr val="C00000"/>
                </a:solidFill>
              </a:rPr>
              <a:t>Discussion with Customer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4215" y="1577340"/>
            <a:ext cx="10649585" cy="4599940"/>
          </a:xfrm>
        </p:spPr>
        <p:txBody>
          <a:bodyPr>
            <a:normAutofit/>
          </a:bodyPr>
          <a:p>
            <a:r>
              <a:rPr lang="en-US" altLang="en-US" sz="1890"/>
              <a:t>Discussed with industry personnel about current bolt inspection methods</a:t>
            </a:r>
            <a:endParaRPr lang="en-US" altLang="en-US" sz="1890"/>
          </a:p>
          <a:p>
            <a:r>
              <a:rPr lang="en-US" altLang="en-US" sz="1890"/>
              <a:t>Identified that manual inspection leads to errors and low efficiency</a:t>
            </a:r>
            <a:endParaRPr lang="en-US" altLang="en-US" sz="1890"/>
          </a:p>
          <a:p>
            <a:r>
              <a:rPr lang="en-US" altLang="en-US" sz="1890"/>
              <a:t>Customer highlighted issues like missing bolts, loose nuts, and safety risks</a:t>
            </a:r>
            <a:endParaRPr lang="en-US" altLang="en-US" sz="1890"/>
          </a:p>
          <a:p>
            <a:r>
              <a:rPr lang="en-US" altLang="en-US" sz="1890"/>
              <a:t>Requirement for a fast and automatic inspection system was emphasized</a:t>
            </a:r>
            <a:endParaRPr lang="en-US" altLang="en-US" sz="1890"/>
          </a:p>
          <a:p>
            <a:r>
              <a:rPr lang="en-US" altLang="en-US" sz="1890"/>
              <a:t>Need for real-time monitoring in production line was discussed</a:t>
            </a:r>
            <a:endParaRPr lang="en-US" altLang="en-US" sz="1890"/>
          </a:p>
          <a:p>
            <a:r>
              <a:rPr lang="en-US" altLang="en-US" sz="1890"/>
              <a:t>Customer suggested improving accuracy and reducing manpower</a:t>
            </a:r>
            <a:endParaRPr lang="en-US" altLang="en-US" sz="1890"/>
          </a:p>
          <a:p>
            <a:endParaRPr lang="en-US" altLang="en-US" sz="1890"/>
          </a:p>
          <a:p>
            <a:pPr marL="0" indent="0">
              <a:buNone/>
            </a:pPr>
            <a:r>
              <a:rPr lang="en-US" altLang="en-US" sz="1890"/>
              <a:t>Conclusion:</a:t>
            </a:r>
            <a:endParaRPr lang="en-US" altLang="en-US" sz="1890"/>
          </a:p>
          <a:p>
            <a:r>
              <a:rPr lang="en-US" altLang="en-US" sz="1890"/>
              <a:t>Customer expects a reliable, automatic, and real-time defect detection system using advanced technology like AI and machine vision.</a:t>
            </a:r>
            <a:endParaRPr lang="en-US" altLang="en-US" sz="189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7B9A470-1865-4131-B7FE-F37C27291358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IN"/>
              <a:t>MRIET 2024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B80762C-F2FD-4145-979C-8E15085ED4A0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8108" y="267367"/>
            <a:ext cx="8774130" cy="1230927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Key </a:t>
            </a:r>
            <a:r>
              <a:rPr lang="en-US" b="1" dirty="0">
                <a:solidFill>
                  <a:srgbClr val="C00000"/>
                </a:solidFill>
              </a:rPr>
              <a:t>assumptions and O</a:t>
            </a:r>
            <a:r>
              <a:rPr lang="en-US" b="1" dirty="0" smtClean="0">
                <a:solidFill>
                  <a:srgbClr val="C00000"/>
                </a:solidFill>
              </a:rPr>
              <a:t>bjective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0717" y="1383173"/>
            <a:ext cx="10515600" cy="4351338"/>
          </a:xfrm>
        </p:spPr>
        <p:txBody>
          <a:bodyPr>
            <a:normAutofit fontScale="60000"/>
          </a:bodyPr>
          <a:lstStyle/>
          <a:p>
            <a:pPr marL="0" indent="0">
              <a:buNone/>
            </a:pPr>
            <a:r>
              <a:rPr lang="en-US" altLang="en-US" b="1" dirty="0"/>
              <a:t>Key Assumptions:</a:t>
            </a:r>
            <a:endParaRPr lang="en-US" alt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/>
              <a:t>Camera captures clear images of bolts and nuts</a:t>
            </a:r>
            <a:endParaRPr lang="en-US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/>
              <a:t>Proper lighting and fixed setup available</a:t>
            </a:r>
            <a:endParaRPr lang="en-US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/>
              <a:t>Production line setup is stable</a:t>
            </a:r>
            <a:endParaRPr lang="en-US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/>
              <a:t>AI model can be trained with dataset</a:t>
            </a:r>
            <a:endParaRPr lang="en-US" alt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b="1" dirty="0"/>
              <a:t>Objective:</a:t>
            </a:r>
            <a:endParaRPr lang="en-US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/>
              <a:t>To develop an automatic inspection system</a:t>
            </a:r>
            <a:endParaRPr lang="en-US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/>
              <a:t>To detect missing, loose, and misaligned bolts</a:t>
            </a:r>
            <a:endParaRPr lang="en-US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/>
              <a:t>To improve accuracy and speed</a:t>
            </a:r>
            <a:endParaRPr lang="en-US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/>
              <a:t>To reduce human effort in industries</a:t>
            </a:r>
            <a:endParaRPr lang="en-US" alt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  <a:endParaRPr lang="en-IN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E8B41-4F67-45CE-BAB4-D2F9B2A88920}" type="datetime1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8108" y="267367"/>
            <a:ext cx="8774130" cy="1397046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Plan to Execute</a:t>
            </a:r>
            <a:br>
              <a:rPr lang="en-US" dirty="0">
                <a:solidFill>
                  <a:srgbClr val="0070C0"/>
                </a:solidFill>
              </a:rPr>
            </a:b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0717" y="1383173"/>
            <a:ext cx="10515600" cy="4351338"/>
          </a:xfrm>
        </p:spPr>
        <p:txBody>
          <a:bodyPr>
            <a:normAutofit fontScale="60000"/>
          </a:bodyPr>
          <a:lstStyle/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b="1" dirty="0">
                <a:ln>
                  <a:noFill/>
                </a:ln>
                <a:effectLst/>
                <a:latin typeface="Arial" panose="020B0604020202020204" pitchFamily="34" charset="0"/>
                <a:sym typeface="+mn-ea"/>
              </a:rPr>
              <a:t>Phase 1:</a:t>
            </a:r>
            <a:r>
              <a:rPr lang="en-US" altLang="en-US" dirty="0">
                <a:ln>
                  <a:noFill/>
                </a:ln>
                <a:effectLst/>
                <a:latin typeface="Arial" panose="020B0604020202020204" pitchFamily="34" charset="0"/>
                <a:sym typeface="+mn-ea"/>
              </a:rPr>
              <a:t> Problem Study &amp; Data Collection (images/videos of bolts &amp; nuts)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b="1" dirty="0">
                <a:ln>
                  <a:noFill/>
                </a:ln>
                <a:effectLst/>
                <a:latin typeface="Arial" panose="020B0604020202020204" pitchFamily="34" charset="0"/>
                <a:sym typeface="+mn-ea"/>
              </a:rPr>
              <a:t>Phase 2:</a:t>
            </a:r>
            <a:r>
              <a:rPr lang="en-US" altLang="en-US" dirty="0">
                <a:ln>
                  <a:noFill/>
                </a:ln>
                <a:effectLst/>
                <a:latin typeface="Arial" panose="020B0604020202020204" pitchFamily="34" charset="0"/>
                <a:sym typeface="+mn-ea"/>
              </a:rPr>
              <a:t> Data Annotation &amp; Preprocessing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b="1" dirty="0">
                <a:ln>
                  <a:noFill/>
                </a:ln>
                <a:effectLst/>
                <a:latin typeface="Arial" panose="020B0604020202020204" pitchFamily="34" charset="0"/>
                <a:sym typeface="+mn-ea"/>
              </a:rPr>
              <a:t>Phase 3:</a:t>
            </a:r>
            <a:r>
              <a:rPr lang="en-US" altLang="en-US" dirty="0">
                <a:ln>
                  <a:noFill/>
                </a:ln>
                <a:effectLst/>
                <a:latin typeface="Arial" panose="020B0604020202020204" pitchFamily="34" charset="0"/>
                <a:sym typeface="+mn-ea"/>
              </a:rPr>
              <a:t> Model Development using YOLO + OpenCV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b="1" dirty="0">
                <a:ln>
                  <a:noFill/>
                </a:ln>
                <a:effectLst/>
                <a:latin typeface="Arial" panose="020B0604020202020204" pitchFamily="34" charset="0"/>
                <a:sym typeface="+mn-ea"/>
              </a:rPr>
              <a:t>Phase 4:</a:t>
            </a:r>
            <a:r>
              <a:rPr lang="en-US" altLang="en-US" dirty="0">
                <a:ln>
                  <a:noFill/>
                </a:ln>
                <a:effectLst/>
                <a:latin typeface="Arial" panose="020B0604020202020204" pitchFamily="34" charset="0"/>
                <a:sym typeface="+mn-ea"/>
              </a:rPr>
              <a:t> Training &amp; Testing the Model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b="1" dirty="0">
                <a:ln>
                  <a:noFill/>
                </a:ln>
                <a:effectLst/>
                <a:latin typeface="Arial" panose="020B0604020202020204" pitchFamily="34" charset="0"/>
                <a:sym typeface="+mn-ea"/>
              </a:rPr>
              <a:t>Phase 5:</a:t>
            </a:r>
            <a:r>
              <a:rPr lang="en-US" altLang="en-US" dirty="0">
                <a:ln>
                  <a:noFill/>
                </a:ln>
                <a:effectLst/>
                <a:latin typeface="Arial" panose="020B0604020202020204" pitchFamily="34" charset="0"/>
                <a:sym typeface="+mn-ea"/>
              </a:rPr>
              <a:t> Real-Time System Integration (camera setup)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b="1" dirty="0">
                <a:ln>
                  <a:noFill/>
                </a:ln>
                <a:effectLst/>
                <a:latin typeface="Arial" panose="020B0604020202020204" pitchFamily="34" charset="0"/>
                <a:sym typeface="+mn-ea"/>
              </a:rPr>
              <a:t>Phase 6:</a:t>
            </a:r>
            <a:r>
              <a:rPr lang="en-US" altLang="en-US" dirty="0">
                <a:ln>
                  <a:noFill/>
                </a:ln>
                <a:effectLst/>
                <a:latin typeface="Arial" panose="020B0604020202020204" pitchFamily="34" charset="0"/>
                <a:sym typeface="+mn-ea"/>
              </a:rPr>
              <a:t> Performance Evaluation &amp; Optimization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b="1" dirty="0">
                <a:ln>
                  <a:noFill/>
                </a:ln>
                <a:effectLst/>
                <a:latin typeface="Arial" panose="020B0604020202020204" pitchFamily="34" charset="0"/>
                <a:sym typeface="+mn-ea"/>
              </a:rPr>
              <a:t>Phase 7:</a:t>
            </a:r>
            <a:r>
              <a:rPr lang="en-US" altLang="en-US" dirty="0">
                <a:ln>
                  <a:noFill/>
                </a:ln>
                <a:effectLst/>
                <a:latin typeface="Arial" panose="020B0604020202020204" pitchFamily="34" charset="0"/>
                <a:sym typeface="+mn-ea"/>
              </a:rPr>
              <a:t> Final Testing &amp; Deployment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  <a:endParaRPr lang="en-IN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E8B41-4F67-45CE-BAB4-D2F9B2A88920}" type="datetime1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6374" y="185174"/>
            <a:ext cx="5528187" cy="970423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References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MAP 2025</a:t>
            </a:r>
            <a:endParaRPr lang="en-IN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EA517-2B61-4770-A96A-3FE486EF1883}" type="datetime1">
              <a:rPr lang="en-IN" smtClean="0"/>
            </a:fld>
            <a:endParaRPr lang="en-IN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575310" y="1165860"/>
            <a:ext cx="6760845" cy="4526280"/>
          </a:xfrm>
        </p:spPr>
        <p:txBody>
          <a:bodyPr>
            <a:normAutofit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Bolt &amp; Nut Detection using Computer Vision (Research Paper)</a:t>
            </a:r>
            <a:br>
              <a:rPr lang="en-US" altLang="en-US" sz="180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altLang="en-US" sz="180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https://ieeexplore.ieee.org/document/8461183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Real-Time Object Detection using YOLO (Paper)</a:t>
            </a:r>
            <a:br>
              <a:rPr lang="en-US" altLang="en-US" sz="180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altLang="en-US" sz="180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  <a:hlinkClick r:id="rId1"/>
              </a:rPr>
              <a:t>https://pjreddie.com/media/files/papers/yolo.pdf</a:t>
            </a:r>
            <a:r>
              <a:rPr lang="en-US" altLang="en-US" sz="180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OpenCV Official Documentation (Python)</a:t>
            </a:r>
            <a:br>
              <a:rPr lang="en-US" altLang="en-US" sz="180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altLang="en-US" sz="180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  <a:hlinkClick r:id="rId2"/>
              </a:rPr>
              <a:t>https://docs.opencv.org/4.x/d6/d00/tutorial_py_root.html</a:t>
            </a:r>
            <a:r>
              <a:rPr lang="en-US" altLang="en-US" sz="180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YOLOv8 Documentation (</a:t>
            </a:r>
            <a:r>
              <a:rPr lang="en-US" altLang="en-US" sz="180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Ultralytics</a:t>
            </a:r>
            <a:r>
              <a:rPr lang="en-US" altLang="en-US" sz="180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</a:t>
            </a:r>
            <a:br>
              <a:rPr lang="en-US" altLang="en-US" sz="180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altLang="en-US" sz="180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  <a:hlinkClick r:id="rId3"/>
              </a:rPr>
              <a:t>https://docs.ultralytics.com</a:t>
            </a:r>
            <a:r>
              <a:rPr lang="en-US" altLang="en-US" sz="180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GitHub Project – Object Detection with YOLO &amp; OpenCV</a:t>
            </a:r>
            <a:br>
              <a:rPr lang="en-US" altLang="en-US" sz="180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altLang="en-US" sz="180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  <a:hlinkClick r:id="rId4"/>
              </a:rPr>
              <a:t>https://github.com/ultralytics/ultralytics</a:t>
            </a:r>
            <a:r>
              <a:rPr lang="en-US" altLang="en-US" sz="180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YouTube – Bolt/Nut Detection using YOLO &amp; OpenCV</a:t>
            </a:r>
            <a:br>
              <a:rPr lang="en-US" altLang="en-US" sz="180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altLang="en-US" sz="180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  <a:hlinkClick r:id="rId5"/>
              </a:rPr>
              <a:t>https://www.youtube.com/watch?v=9xq407mHdAg</a:t>
            </a:r>
            <a:r>
              <a:rPr lang="en-US" altLang="en-US" sz="180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IN" sz="1800" dirty="0">
              <a:solidFill>
                <a:srgbClr val="000000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4130</Words>
  <Application>WPS Presentation</Application>
  <PresentationFormat>Custom</PresentationFormat>
  <Paragraphs>212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SimSun</vt:lpstr>
      <vt:lpstr>Wingdings</vt:lpstr>
      <vt:lpstr>Times New Roman</vt:lpstr>
      <vt:lpstr>Calibri</vt:lpstr>
      <vt:lpstr>Microsoft YaHei</vt:lpstr>
      <vt:lpstr>Arial Unicode MS</vt:lpstr>
      <vt:lpstr>Calibri Light</vt:lpstr>
      <vt:lpstr>Courier New</vt:lpstr>
      <vt:lpstr>等线</vt:lpstr>
      <vt:lpstr>Tahoma</vt:lpstr>
      <vt:lpstr>Office Theme</vt:lpstr>
      <vt:lpstr>PowerPoint 演示文稿</vt:lpstr>
      <vt:lpstr>Table of Content </vt:lpstr>
      <vt:lpstr>List of Problems through customers / industry defined problems/contest etc.</vt:lpstr>
      <vt:lpstr>Selected Final Problem Statement</vt:lpstr>
      <vt:lpstr>PowerPoint 演示文稿</vt:lpstr>
      <vt:lpstr>Key assumptions and Objective</vt:lpstr>
      <vt:lpstr>Plan to Execute </vt:lpstr>
      <vt:lpstr>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Kamatchi Kannan V</dc:creator>
  <cp:lastModifiedBy>logesh waran</cp:lastModifiedBy>
  <cp:revision>52</cp:revision>
  <dcterms:created xsi:type="dcterms:W3CDTF">2024-04-02T09:34:00Z</dcterms:created>
  <dcterms:modified xsi:type="dcterms:W3CDTF">2026-05-05T07:18:47Z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9581D586FEA24FCCBD3B9B5A308169F2_13</vt:lpwstr>
  </property>
  <property fmtid="{D5CDD505-2E9C-101B-9397-08002B2CF9AE}" pid="3" name="KSOProductBuildVer">
    <vt:lpwstr>1033-12.1.0.25862</vt:lpwstr>
  </property>
</Properties>
</file>